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38e2c2081319db6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38e2c2081319db6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38e2c2081319db6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38e2c2081319db6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38e2c2081319db6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38e2c2081319db6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38e2c2081319db6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38e2c2081319db6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38e2c2081319db6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38e2c2081319db6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38e2c2081319db6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38e2c2081319db6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38e2c2081319db6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38e2c2081319db6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38e2c2081319db6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38e2c2081319db6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38e2c2081319db6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38e2c2081319db6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39290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40"/>
              <a:t>Trabajo Práctico Integrador</a:t>
            </a:r>
            <a:endParaRPr sz="25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40"/>
              <a:t>Seminario de Actualización</a:t>
            </a:r>
            <a:endParaRPr sz="25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40"/>
              <a:t>“Traductor Inglés Español”</a:t>
            </a:r>
            <a:endParaRPr sz="25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40"/>
              <a:t>Alumno: Angel Sebastián Medina</a:t>
            </a:r>
            <a:endParaRPr sz="25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540"/>
              <a:t>Profesora: Cynthia Villagra</a:t>
            </a:r>
            <a:endParaRPr sz="2540"/>
          </a:p>
        </p:txBody>
      </p:sp>
      <p:sp>
        <p:nvSpPr>
          <p:cNvPr id="55" name="Google Shape;55;p13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515500" y="126750"/>
            <a:ext cx="3268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940725"/>
            <a:ext cx="4260300" cy="5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89"/>
              <a:t>¿Cómo surge la idea?</a:t>
            </a:r>
            <a:endParaRPr sz="2289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460325"/>
            <a:ext cx="4260300" cy="31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Dueño de una tienda de mascotas pide dejar reseñas en su página de Google Maps.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En medio de la charla, él resalta que le han dejado reseñas en idioma inglés, el cual él no entiende.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Solución: la creación de una aplicación de traductor Inglés - Español para que el comerciante pueda responder a las reseñas que dejan en su sitio.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4572000" y="940725"/>
            <a:ext cx="4212000" cy="5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89"/>
              <a:t>¿Cómo se construye?</a:t>
            </a:r>
            <a:endParaRPr sz="2289"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523700" y="1460325"/>
            <a:ext cx="4260300" cy="31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Utilización de modelo/s de traducción en Python.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¿Por qué modelos de ML por sobre código convencional? Contexto de las frases a traducir, escalabilidad, mantenimiento y tiempo de </a:t>
            </a:r>
            <a:r>
              <a:rPr lang="es-419" sz="1500">
                <a:solidFill>
                  <a:schemeClr val="dk1"/>
                </a:solidFill>
              </a:rPr>
              <a:t>desarrollo</a:t>
            </a:r>
            <a:r>
              <a:rPr lang="es-419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Elección entre </a:t>
            </a:r>
            <a:r>
              <a:rPr b="1" lang="es-419" sz="1500">
                <a:solidFill>
                  <a:schemeClr val="dk1"/>
                </a:solidFill>
              </a:rPr>
              <a:t>pipeline</a:t>
            </a:r>
            <a:r>
              <a:rPr lang="es-419" sz="1500">
                <a:solidFill>
                  <a:schemeClr val="dk1"/>
                </a:solidFill>
              </a:rPr>
              <a:t> e </a:t>
            </a:r>
            <a:r>
              <a:rPr b="1" lang="es-419" sz="1500">
                <a:solidFill>
                  <a:schemeClr val="dk1"/>
                </a:solidFill>
              </a:rPr>
              <a:t>InferenceClient</a:t>
            </a:r>
            <a:r>
              <a:rPr lang="es-419" sz="1500">
                <a:solidFill>
                  <a:schemeClr val="dk1"/>
                </a:solidFill>
              </a:rPr>
              <a:t> como métodos para trabajar con los modelos.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</a:rPr>
              <a:t>Elección entre dos tipos de modelos: traducción directa entre dos idiomas (</a:t>
            </a:r>
            <a:r>
              <a:rPr b="1" lang="es-419" sz="1500">
                <a:solidFill>
                  <a:schemeClr val="dk1"/>
                </a:solidFill>
              </a:rPr>
              <a:t>opus</a:t>
            </a:r>
            <a:r>
              <a:rPr lang="es-419" sz="1500">
                <a:solidFill>
                  <a:schemeClr val="dk1"/>
                </a:solidFill>
              </a:rPr>
              <a:t>) y multilenguaje (</a:t>
            </a:r>
            <a:r>
              <a:rPr b="1" lang="es-419" sz="1500">
                <a:solidFill>
                  <a:schemeClr val="dk1"/>
                </a:solidFill>
              </a:rPr>
              <a:t>MBart</a:t>
            </a:r>
            <a:r>
              <a:rPr lang="es-419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515500" y="126750"/>
            <a:ext cx="3268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8591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</a:t>
            </a:r>
            <a:r>
              <a:rPr lang="es-419"/>
              <a:t> de la aplicación - Inconvenientes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431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700">
                <a:solidFill>
                  <a:schemeClr val="dk1"/>
                </a:solidFill>
              </a:rPr>
              <a:t>N° 1 Subjetivo: </a:t>
            </a:r>
            <a:r>
              <a:rPr lang="es-419" sz="1700">
                <a:solidFill>
                  <a:schemeClr val="dk1"/>
                </a:solidFill>
              </a:rPr>
              <a:t>Imposibilidad de utilizar </a:t>
            </a:r>
            <a:r>
              <a:rPr b="1" lang="es-419" sz="1700">
                <a:solidFill>
                  <a:schemeClr val="dk1"/>
                </a:solidFill>
              </a:rPr>
              <a:t>InferenceClient</a:t>
            </a:r>
            <a:r>
              <a:rPr lang="es-419" sz="1700">
                <a:solidFill>
                  <a:schemeClr val="dk1"/>
                </a:solidFill>
              </a:rPr>
              <a:t> por plan gratuito limitado en Hugging Face. Por lo que probamos utilizar </a:t>
            </a:r>
            <a:r>
              <a:rPr b="1" lang="es-419" sz="1700">
                <a:solidFill>
                  <a:schemeClr val="dk1"/>
                </a:solidFill>
              </a:rPr>
              <a:t>pipeline</a:t>
            </a:r>
            <a:r>
              <a:rPr lang="es-419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80" name="Google Shape;80;p15" title="Captura de pantalla 2026-10-08 1124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04575"/>
            <a:ext cx="8839200" cy="68736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2834350"/>
            <a:ext cx="85206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400">
                <a:solidFill>
                  <a:schemeClr val="dk1"/>
                </a:solidFill>
              </a:rPr>
              <a:t>N° 2 Prueba utilizando </a:t>
            </a:r>
            <a:r>
              <a:rPr b="1" lang="es-419" sz="1400">
                <a:solidFill>
                  <a:schemeClr val="dk1"/>
                </a:solidFill>
              </a:rPr>
              <a:t>pipeline</a:t>
            </a:r>
            <a:r>
              <a:rPr lang="es-419" sz="1400">
                <a:solidFill>
                  <a:schemeClr val="dk1"/>
                </a:solidFill>
              </a:rPr>
              <a:t> -&gt; incompatibilidad de la </a:t>
            </a:r>
            <a:r>
              <a:rPr i="1" lang="es-419" sz="1400">
                <a:solidFill>
                  <a:schemeClr val="dk1"/>
                </a:solidFill>
              </a:rPr>
              <a:t>task translator</a:t>
            </a:r>
            <a:r>
              <a:rPr lang="es-419" sz="1400">
                <a:solidFill>
                  <a:schemeClr val="dk1"/>
                </a:solidFill>
              </a:rPr>
              <a:t> en versiones posteriores a 5.0. Motivo: mejor desempeño de modelos LLM como traductores. Solución: instalar versiones anteriores a 5.0 de </a:t>
            </a:r>
            <a:r>
              <a:rPr b="1" lang="es-419" sz="1400">
                <a:solidFill>
                  <a:schemeClr val="dk1"/>
                </a:solidFill>
              </a:rPr>
              <a:t>Transformers</a:t>
            </a:r>
            <a:r>
              <a:rPr lang="es-419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2" name="Google Shape;82;p15" title="Captura de pantalla 2026-10-07 1209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605950"/>
            <a:ext cx="8839202" cy="24829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5515400" y="126600"/>
            <a:ext cx="326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84" name="Google Shape;84;p15" title="Instalacion transformer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5925" y="4094417"/>
            <a:ext cx="57721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8591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 de la aplicación - Inconvenientes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2037000"/>
            <a:ext cx="85206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400">
                <a:solidFill>
                  <a:schemeClr val="dk1"/>
                </a:solidFill>
              </a:rPr>
              <a:t>N° 3 Elección entre modelos: los modelos de traducción directa entre dos idiomas funcionan mejor con </a:t>
            </a:r>
            <a:r>
              <a:rPr b="1" lang="es-419" sz="1400">
                <a:solidFill>
                  <a:schemeClr val="dk1"/>
                </a:solidFill>
              </a:rPr>
              <a:t>pipeline</a:t>
            </a:r>
            <a:r>
              <a:rPr lang="es-419" sz="1400">
                <a:solidFill>
                  <a:schemeClr val="dk1"/>
                </a:solidFill>
              </a:rPr>
              <a:t> que el modelo multilenguaje, el cual reporta fallas en su respuesta. Solución: utilizar métodos para configurar el código de idioma, pero sin utilizar </a:t>
            </a:r>
            <a:r>
              <a:rPr b="1" lang="es-419" sz="1400">
                <a:solidFill>
                  <a:schemeClr val="dk1"/>
                </a:solidFill>
              </a:rPr>
              <a:t>pipeline.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515400" y="126600"/>
            <a:ext cx="326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95" name="Google Shape;95;p16" title="Captura de pantalla 2026-10-08 1749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25" y="3152950"/>
            <a:ext cx="8839203" cy="467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7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5515400" y="126600"/>
            <a:ext cx="326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104" name="Google Shape;104;p17" title="Captura de pantalla 2026-10-08 1753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4601" y="860250"/>
            <a:ext cx="5494805" cy="406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5515400" y="126600"/>
            <a:ext cx="326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8591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 de la aplicación - Cuadro de Resultados</a:t>
            </a:r>
            <a:endParaRPr/>
          </a:p>
        </p:txBody>
      </p:sp>
      <p:pic>
        <p:nvPicPr>
          <p:cNvPr id="114" name="Google Shape;114;p18" title="Cuadro de resultad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17750"/>
            <a:ext cx="8839200" cy="12843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340833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 de la aplicación - ¿Por qué Gradio?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3981050"/>
            <a:ext cx="8520600" cy="9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Funcionalidad limitada en planes gratuitos de Hugging Face y Render (512MB de RAM </a:t>
            </a:r>
            <a:r>
              <a:rPr lang="es-419" sz="1400">
                <a:solidFill>
                  <a:schemeClr val="dk1"/>
                </a:solidFill>
              </a:rPr>
              <a:t>gratuito, limitado para albergar los modelos </a:t>
            </a:r>
            <a:r>
              <a:rPr b="1" lang="es-419" sz="1400">
                <a:solidFill>
                  <a:schemeClr val="dk1"/>
                </a:solidFill>
              </a:rPr>
              <a:t>opus</a:t>
            </a:r>
            <a:r>
              <a:rPr lang="es-419" sz="1400">
                <a:solidFill>
                  <a:schemeClr val="dk1"/>
                </a:solidFill>
              </a:rPr>
              <a:t> ya que cada uno pesa aprox. 560MB.)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Hostings compartidos están diseñados para PHP, por lo que utilizar Python con sus librerías </a:t>
            </a:r>
            <a:r>
              <a:rPr b="1" lang="es-419" sz="1400">
                <a:solidFill>
                  <a:schemeClr val="dk1"/>
                </a:solidFill>
              </a:rPr>
              <a:t>torch</a:t>
            </a:r>
            <a:r>
              <a:rPr lang="es-419" sz="1400">
                <a:solidFill>
                  <a:schemeClr val="dk1"/>
                </a:solidFill>
              </a:rPr>
              <a:t> y </a:t>
            </a:r>
            <a:r>
              <a:rPr b="1" lang="es-419" sz="1400">
                <a:solidFill>
                  <a:schemeClr val="dk1"/>
                </a:solidFill>
              </a:rPr>
              <a:t>Transformers</a:t>
            </a:r>
            <a:r>
              <a:rPr lang="es-419" sz="1400">
                <a:solidFill>
                  <a:schemeClr val="dk1"/>
                </a:solidFill>
              </a:rPr>
              <a:t> se hace imposible.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2887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1400">
                <a:solidFill>
                  <a:schemeClr val="dk1"/>
                </a:solidFill>
              </a:rPr>
              <a:t>Elección de par de modelos </a:t>
            </a:r>
            <a:r>
              <a:rPr b="1" lang="es-419" sz="1400">
                <a:solidFill>
                  <a:schemeClr val="dk1"/>
                </a:solidFill>
              </a:rPr>
              <a:t>opus </a:t>
            </a:r>
            <a:r>
              <a:rPr i="1" lang="es-419" sz="1400">
                <a:solidFill>
                  <a:schemeClr val="dk1"/>
                </a:solidFill>
              </a:rPr>
              <a:t>es-en</a:t>
            </a:r>
            <a:r>
              <a:rPr lang="es-419" sz="1400">
                <a:solidFill>
                  <a:schemeClr val="dk1"/>
                </a:solidFill>
              </a:rPr>
              <a:t> y </a:t>
            </a:r>
            <a:r>
              <a:rPr i="1" lang="es-419" sz="1400">
                <a:solidFill>
                  <a:schemeClr val="dk1"/>
                </a:solidFill>
              </a:rPr>
              <a:t>en-es</a:t>
            </a:r>
            <a:r>
              <a:rPr lang="es-419" sz="1400">
                <a:solidFill>
                  <a:schemeClr val="dk1"/>
                </a:solidFill>
              </a:rPr>
              <a:t> intercambiando entre ellos de acuerdo el sentido de la traducción.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9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515400" y="126600"/>
            <a:ext cx="326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8591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Desarrollo de la aplicación - ¿Cómo funciona el traductor?</a:t>
            </a:r>
            <a:endParaRPr/>
          </a:p>
        </p:txBody>
      </p:sp>
      <p:pic>
        <p:nvPicPr>
          <p:cNvPr id="127" name="Google Shape;127;p19" title="Diagrama Aplicació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438" y="1431863"/>
            <a:ext cx="6661130" cy="3406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515400" y="126600"/>
            <a:ext cx="326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36" name="Google Shape;136;p20"/>
          <p:cNvSpPr txBox="1"/>
          <p:nvPr>
            <p:ph type="title"/>
          </p:nvPr>
        </p:nvSpPr>
        <p:spPr>
          <a:xfrm>
            <a:off x="311700" y="8591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se ve el traductor desplegado?</a:t>
            </a:r>
            <a:endParaRPr/>
          </a:p>
        </p:txBody>
      </p:sp>
      <p:pic>
        <p:nvPicPr>
          <p:cNvPr id="137" name="Google Shape;137;p20" title="aplicac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613" y="1431863"/>
            <a:ext cx="8562764" cy="3406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1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8591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Vocabulario - ¿Qué hace cada línea de código?</a:t>
            </a:r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5515400" y="126600"/>
            <a:ext cx="326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147" name="Google Shape;147;p21" title="Vocabulario1.png"/>
          <p:cNvPicPr preferRelativeResize="0"/>
          <p:nvPr/>
        </p:nvPicPr>
        <p:blipFill rotWithShape="1">
          <a:blip r:embed="rId4">
            <a:alphaModFix/>
          </a:blip>
          <a:srcRect b="9950" l="0" r="0" t="0"/>
          <a:stretch/>
        </p:blipFill>
        <p:spPr>
          <a:xfrm>
            <a:off x="152400" y="1584274"/>
            <a:ext cx="4649625" cy="306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 title="Vocabulari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4425" y="1584275"/>
            <a:ext cx="4037175" cy="203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311700" y="1363625"/>
            <a:ext cx="8520600" cy="28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</a:rPr>
              <a:t>FIN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3000">
                <a:solidFill>
                  <a:schemeClr val="dk1"/>
                </a:solidFill>
              </a:rPr>
              <a:t>MUCHAS GRACIAS!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0" y="0"/>
            <a:ext cx="9144000" cy="7731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2" title="17804509177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775"/>
            <a:ext cx="771526" cy="771526"/>
          </a:xfrm>
          <a:prstGeom prst="rect">
            <a:avLst/>
          </a:prstGeom>
          <a:solidFill>
            <a:srgbClr val="434343"/>
          </a:solidFill>
          <a:ln>
            <a:noFill/>
          </a:ln>
        </p:spPr>
      </p:pic>
      <p:sp>
        <p:nvSpPr>
          <p:cNvPr id="156" name="Google Shape;156;p22"/>
          <p:cNvSpPr txBox="1"/>
          <p:nvPr/>
        </p:nvSpPr>
        <p:spPr>
          <a:xfrm>
            <a:off x="967250" y="145725"/>
            <a:ext cx="16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IFTS N° 18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5515400" y="126600"/>
            <a:ext cx="3268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</a:rPr>
              <a:t>Seminario de Actualización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